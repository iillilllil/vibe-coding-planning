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991"/>
          </a:solidFill>
          <a:ln w="12700"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13232" y="658368"/>
            <a:ext cx="640080" cy="640080"/>
          </a:xfrm>
          <a:prstGeom prst="ellipse">
            <a:avLst/>
          </a:prstGeom>
          <a:solidFill>
            <a:srgbClr val="EFF3F7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658368"/>
            <a:ext cx="640080" cy="64008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2800" b="1">
                <a:solidFill>
                  <a:srgbClr val="008991"/>
                </a:solidFill>
                <a:latin typeface="Aptos"/>
              </a:rPr>
              <a:t>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572768"/>
            <a:ext cx="10515600" cy="86868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3400" b="1">
                <a:solidFill>
                  <a:srgbClr val="181F2A"/>
                </a:solidFill>
                <a:latin typeface="Aptos"/>
              </a:rPr>
              <a:t>Optimizing Planning Rules
with GEPA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70048"/>
            <a:ext cx="8412480" cy="47548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800" b="0">
                <a:solidFill>
                  <a:srgbClr val="5B697A"/>
                </a:solidFill>
                <a:latin typeface="Aptos"/>
              </a:rPr>
              <a:t>From offline checker optimization to causal online evaluation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31520" y="3364992"/>
            <a:ext cx="4160520" cy="0"/>
          </a:xfrm>
          <a:prstGeom prst="line">
            <a:avLst/>
          </a:prstGeom>
          <a:ln w="38100">
            <a:solidFill>
              <a:srgbClr val="0089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731520" y="3886200"/>
            <a:ext cx="530352" cy="530352"/>
          </a:xfrm>
          <a:prstGeom prst="ellipse">
            <a:avLst/>
          </a:prstGeom>
          <a:solidFill>
            <a:srgbClr val="008991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89888" y="3886200"/>
            <a:ext cx="1115568" cy="53035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000" b="1">
                <a:solidFill>
                  <a:srgbClr val="181F2A"/>
                </a:solidFill>
                <a:latin typeface="Aptos"/>
              </a:rPr>
              <a:t>PLAN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304288" y="4151376"/>
            <a:ext cx="256032" cy="0"/>
          </a:xfrm>
          <a:prstGeom prst="line">
            <a:avLst/>
          </a:prstGeom>
          <a:ln w="25400">
            <a:solidFill>
              <a:srgbClr val="D3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606039" y="3886200"/>
            <a:ext cx="530352" cy="530352"/>
          </a:xfrm>
          <a:prstGeom prst="ellipse">
            <a:avLst/>
          </a:prstGeom>
          <a:solidFill>
            <a:srgbClr val="3667AD"/>
          </a:solidFill>
          <a:ln>
            <a:solidFill>
              <a:srgbClr val="36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64407" y="3886200"/>
            <a:ext cx="1115568" cy="53035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000" b="1">
                <a:solidFill>
                  <a:srgbClr val="181F2A"/>
                </a:solidFill>
                <a:latin typeface="Aptos"/>
              </a:rPr>
              <a:t>CODE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78807" y="4151376"/>
            <a:ext cx="256033" cy="0"/>
          </a:xfrm>
          <a:prstGeom prst="line">
            <a:avLst/>
          </a:prstGeom>
          <a:ln w="25400">
            <a:solidFill>
              <a:srgbClr val="D3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4480559" y="3886200"/>
            <a:ext cx="530352" cy="530352"/>
          </a:xfrm>
          <a:prstGeom prst="ellipse">
            <a:avLst/>
          </a:prstGeom>
          <a:solidFill>
            <a:srgbClr val="E05D49"/>
          </a:solidFill>
          <a:ln>
            <a:solidFill>
              <a:srgbClr val="E05D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38927" y="3886200"/>
            <a:ext cx="1115568" cy="53035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000" b="1">
                <a:solidFill>
                  <a:srgbClr val="181F2A"/>
                </a:solidFill>
                <a:latin typeface="Aptos"/>
              </a:rPr>
              <a:t>EVALUATE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53327" y="4151376"/>
            <a:ext cx="256032" cy="0"/>
          </a:xfrm>
          <a:prstGeom prst="line">
            <a:avLst/>
          </a:prstGeom>
          <a:ln w="25400">
            <a:solidFill>
              <a:srgbClr val="D3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6355079" y="3886200"/>
            <a:ext cx="530352" cy="530352"/>
          </a:xfrm>
          <a:prstGeom prst="ellipse">
            <a:avLst/>
          </a:prstGeom>
          <a:solidFill>
            <a:srgbClr val="E0A336"/>
          </a:solidFill>
          <a:ln>
            <a:solidFill>
              <a:srgbClr val="E0A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13447" y="3886200"/>
            <a:ext cx="1115568" cy="53035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000" b="1">
                <a:solidFill>
                  <a:srgbClr val="181F2A"/>
                </a:solidFill>
                <a:latin typeface="Aptos"/>
              </a:rPr>
              <a:t>REFLECT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053328"/>
            <a:ext cx="6583680" cy="27432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100" b="0">
                <a:solidFill>
                  <a:srgbClr val="5B697A"/>
                </a:solidFill>
                <a:latin typeface="Aptos"/>
              </a:rPr>
              <a:t>Partner research update · 15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2468880" cy="25603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900" b="1">
                <a:solidFill>
                  <a:srgbClr val="008991"/>
                </a:solidFill>
                <a:latin typeface="Aptos"/>
              </a:rPr>
              <a:t>RESEARCH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2700" b="1">
                <a:solidFill>
                  <a:srgbClr val="181F2A"/>
                </a:solidFill>
                <a:latin typeface="Aptos"/>
              </a:rPr>
              <a:t>Can learned planning rules improve real software repair?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70432"/>
            <a:ext cx="10789920" cy="36576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200" b="0">
                <a:solidFill>
                  <a:srgbClr val="5B697A"/>
                </a:solidFill>
                <a:latin typeface="Aptos"/>
              </a:rPr>
              <a:t>The target is causal improvement, not only rule–label correlation.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572768"/>
            <a:ext cx="11000232" cy="0"/>
          </a:xfrm>
          <a:prstGeom prst="line">
            <a:avLst/>
          </a:prstGeom>
          <a:ln w="12700">
            <a:solidFill>
              <a:srgbClr val="D3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685800" y="1874519"/>
            <a:ext cx="658368" cy="658368"/>
          </a:xfrm>
          <a:prstGeom prst="ellipse">
            <a:avLst/>
          </a:prstGeom>
          <a:solidFill>
            <a:srgbClr val="EFF3F7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17473" y="2006193"/>
            <a:ext cx="395020" cy="395020"/>
          </a:xfrm>
          <a:prstGeom prst="ellipse">
            <a:avLst/>
          </a:prstGeom>
          <a:solidFill>
            <a:srgbClr val="FFFFFF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29396" y="2118116"/>
            <a:ext cx="171175" cy="171175"/>
          </a:xfrm>
          <a:prstGeom prst="ellipse">
            <a:avLst/>
          </a:prstGeom>
          <a:solidFill>
            <a:srgbClr val="008991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72768" y="1874519"/>
            <a:ext cx="4389120" cy="50292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2100" b="1">
                <a:solidFill>
                  <a:srgbClr val="181F2A"/>
                </a:solidFill>
                <a:latin typeface="Aptos"/>
              </a:rPr>
              <a:t>Machine-usable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2377440"/>
            <a:ext cx="4389120" cy="43891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200" b="0">
                <a:solidFill>
                  <a:srgbClr val="5B697A"/>
                </a:solidFill>
                <a:latin typeface="Aptos"/>
              </a:rPr>
              <a:t>Rules that guide an autonomous planner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3063240"/>
            <a:ext cx="658368" cy="658368"/>
          </a:xfrm>
          <a:prstGeom prst="ellipse">
            <a:avLst/>
          </a:prstGeom>
          <a:solidFill>
            <a:srgbClr val="EFF3F7"/>
          </a:solidFill>
          <a:ln>
            <a:solidFill>
              <a:srgbClr val="36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Heart 11"/>
          <p:cNvSpPr/>
          <p:nvPr/>
        </p:nvSpPr>
        <p:spPr>
          <a:xfrm rot="10800000">
            <a:off x="813816" y="3172968"/>
            <a:ext cx="402335" cy="457200"/>
          </a:xfrm>
          <a:prstGeom prst="heart">
            <a:avLst/>
          </a:prstGeom>
          <a:solidFill>
            <a:srgbClr val="FFFFFF"/>
          </a:solidFill>
          <a:ln>
            <a:solidFill>
              <a:srgbClr val="36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" y="3191256"/>
            <a:ext cx="365759" cy="402335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1">
                <a:solidFill>
                  <a:srgbClr val="3667AD"/>
                </a:solidFill>
                <a:latin typeface="Apto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2768" y="3063240"/>
            <a:ext cx="4389120" cy="50292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2100" b="1">
                <a:solidFill>
                  <a:srgbClr val="181F2A"/>
                </a:solidFill>
                <a:latin typeface="Aptos"/>
              </a:rPr>
              <a:t>Human-readable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3566160"/>
            <a:ext cx="4389120" cy="43891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200" b="0">
                <a:solidFill>
                  <a:srgbClr val="5B697A"/>
                </a:solidFill>
                <a:latin typeface="Aptos"/>
              </a:rPr>
              <a:t>A compact engineering checklist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4251960"/>
            <a:ext cx="658368" cy="658368"/>
          </a:xfrm>
          <a:prstGeom prst="ellipse">
            <a:avLst/>
          </a:prstGeom>
          <a:solidFill>
            <a:srgbClr val="EFF3F7"/>
          </a:solidFill>
          <a:ln>
            <a:solidFill>
              <a:srgbClr val="E05D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950975" y="4370832"/>
            <a:ext cx="128017" cy="0"/>
          </a:xfrm>
          <a:prstGeom prst="line">
            <a:avLst/>
          </a:prstGeom>
          <a:ln w="25400">
            <a:solidFill>
              <a:srgbClr val="E05D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78407" y="4370832"/>
            <a:ext cx="0" cy="155448"/>
          </a:xfrm>
          <a:prstGeom prst="line">
            <a:avLst/>
          </a:prstGeom>
          <a:ln w="25400">
            <a:solidFill>
              <a:srgbClr val="E05D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51560" y="4370832"/>
            <a:ext cx="0" cy="155448"/>
          </a:xfrm>
          <a:prstGeom prst="line">
            <a:avLst/>
          </a:prstGeom>
          <a:ln w="25400">
            <a:solidFill>
              <a:srgbClr val="E05D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877823" y="4526280"/>
            <a:ext cx="100584" cy="118872"/>
          </a:xfrm>
          <a:prstGeom prst="line">
            <a:avLst/>
          </a:prstGeom>
          <a:ln w="25400">
            <a:solidFill>
              <a:srgbClr val="E05D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51560" y="4526280"/>
            <a:ext cx="100583" cy="118872"/>
          </a:xfrm>
          <a:prstGeom prst="line">
            <a:avLst/>
          </a:prstGeom>
          <a:ln w="25400">
            <a:solidFill>
              <a:srgbClr val="E05D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77823" y="4645152"/>
            <a:ext cx="274320" cy="0"/>
          </a:xfrm>
          <a:prstGeom prst="line">
            <a:avLst/>
          </a:prstGeom>
          <a:ln w="25400">
            <a:solidFill>
              <a:srgbClr val="E05D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572768" y="4251960"/>
            <a:ext cx="4389120" cy="50292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2100" b="1">
                <a:solidFill>
                  <a:srgbClr val="181F2A"/>
                </a:solidFill>
                <a:latin typeface="Aptos"/>
              </a:rPr>
              <a:t>Empirically validated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72768" y="4754880"/>
            <a:ext cx="4389120" cy="43891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200" b="0">
                <a:solidFill>
                  <a:srgbClr val="5B697A"/>
                </a:solidFill>
                <a:latin typeface="Aptos"/>
              </a:rPr>
              <a:t>Measured by official SWE-bench outcomes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10528" y="1920240"/>
            <a:ext cx="4892040" cy="3611880"/>
          </a:xfrm>
          <a:prstGeom prst="roundRect">
            <a:avLst>
              <a:gd name="adj" fmla="val 8000"/>
            </a:avLst>
          </a:prstGeom>
          <a:solidFill>
            <a:srgbClr val="EFF3F7"/>
          </a:solidFill>
          <a:ln w="12700">
            <a:solidFill>
              <a:srgbClr val="EFF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03720" y="2313432"/>
            <a:ext cx="4114800" cy="41148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000" b="1">
                <a:solidFill>
                  <a:srgbClr val="008991"/>
                </a:solidFill>
                <a:latin typeface="Aptos"/>
              </a:rPr>
              <a:t>OPTIMIZATION TARGET</a:t>
            </a:r>
          </a:p>
        </p:txBody>
      </p:sp>
      <p:sp>
        <p:nvSpPr>
          <p:cNvPr id="27" name="Oval 26"/>
          <p:cNvSpPr/>
          <p:nvPr/>
        </p:nvSpPr>
        <p:spPr>
          <a:xfrm>
            <a:off x="8092440" y="2980944"/>
            <a:ext cx="1755648" cy="1755648"/>
          </a:xfrm>
          <a:prstGeom prst="ellipse">
            <a:avLst/>
          </a:prstGeom>
          <a:solidFill>
            <a:srgbClr val="FFFFFF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421624" y="3310128"/>
            <a:ext cx="1097280" cy="1097280"/>
          </a:xfrm>
          <a:prstGeom prst="ellipse">
            <a:avLst/>
          </a:prstGeom>
          <a:solidFill>
            <a:srgbClr val="EFF3F7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769096" y="3657600"/>
            <a:ext cx="402336" cy="402336"/>
          </a:xfrm>
          <a:prstGeom prst="ellipse">
            <a:avLst/>
          </a:prstGeom>
          <a:solidFill>
            <a:srgbClr val="008991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67728" y="4828032"/>
            <a:ext cx="3977639" cy="36576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700" b="1">
                <a:solidFill>
                  <a:srgbClr val="181F2A"/>
                </a:solidFill>
                <a:latin typeface="Aptos"/>
              </a:rPr>
              <a:t>Resolved software issues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565392"/>
            <a:ext cx="10515600" cy="16459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800" b="0">
                <a:solidFill>
                  <a:srgbClr val="5B697A"/>
                </a:solidFill>
                <a:latin typeface="Aptos"/>
              </a:rPr>
              <a:t>Vibe Coding Planning · Research progress · 15 Jul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47120" y="6565392"/>
            <a:ext cx="347472" cy="16459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800" b="1">
                <a:solidFill>
                  <a:srgbClr val="5B697A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2468880" cy="25603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900" b="1">
                <a:solidFill>
                  <a:srgbClr val="008991"/>
                </a:solidFill>
                <a:latin typeface="Aptos"/>
              </a:rPr>
              <a:t>OFFLINE TRIALS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2700" b="1">
                <a:solidFill>
                  <a:srgbClr val="181F2A"/>
                </a:solidFill>
                <a:latin typeface="Aptos"/>
              </a:rPr>
              <a:t>Two optimization attempts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70432"/>
            <a:ext cx="10789920" cy="36576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200" b="0">
                <a:solidFill>
                  <a:srgbClr val="5B697A"/>
                </a:solidFill>
                <a:latin typeface="Aptos"/>
              </a:rPr>
              <a:t>Both runs optimized Checker rules against fixed historical outcomes.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572768"/>
            <a:ext cx="11000232" cy="0"/>
          </a:xfrm>
          <a:prstGeom prst="line">
            <a:avLst/>
          </a:prstGeom>
          <a:ln w="12700">
            <a:solidFill>
              <a:srgbClr val="D3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0080" y="1847088"/>
            <a:ext cx="5349240" cy="4233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103120"/>
            <a:ext cx="530352" cy="530352"/>
          </a:xfrm>
          <a:prstGeom prst="ellipse">
            <a:avLst/>
          </a:prstGeom>
          <a:solidFill>
            <a:srgbClr val="EFF3F7"/>
          </a:solidFill>
          <a:ln>
            <a:solidFill>
              <a:srgbClr val="36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133856" y="2221991"/>
            <a:ext cx="128016" cy="0"/>
          </a:xfrm>
          <a:prstGeom prst="line">
            <a:avLst/>
          </a:prstGeom>
          <a:ln w="25400">
            <a:solidFill>
              <a:srgbClr val="3667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161288" y="2221991"/>
            <a:ext cx="0" cy="155448"/>
          </a:xfrm>
          <a:prstGeom prst="line">
            <a:avLst/>
          </a:prstGeom>
          <a:ln w="25400">
            <a:solidFill>
              <a:srgbClr val="3667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234440" y="2221991"/>
            <a:ext cx="0" cy="155448"/>
          </a:xfrm>
          <a:prstGeom prst="line">
            <a:avLst/>
          </a:prstGeom>
          <a:ln w="25400">
            <a:solidFill>
              <a:srgbClr val="3667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060704" y="2377439"/>
            <a:ext cx="100584" cy="118873"/>
          </a:xfrm>
          <a:prstGeom prst="line">
            <a:avLst/>
          </a:prstGeom>
          <a:ln w="25400">
            <a:solidFill>
              <a:srgbClr val="3667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234440" y="2377439"/>
            <a:ext cx="100584" cy="118873"/>
          </a:xfrm>
          <a:prstGeom prst="line">
            <a:avLst/>
          </a:prstGeom>
          <a:ln w="25400">
            <a:solidFill>
              <a:srgbClr val="3667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60704" y="2496312"/>
            <a:ext cx="274320" cy="0"/>
          </a:xfrm>
          <a:prstGeom prst="line">
            <a:avLst/>
          </a:prstGeom>
          <a:ln w="25400">
            <a:solidFill>
              <a:srgbClr val="3667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627632" y="2075688"/>
            <a:ext cx="3474720" cy="329184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200" b="1">
                <a:solidFill>
                  <a:srgbClr val="3667AD"/>
                </a:solidFill>
                <a:latin typeface="Aptos"/>
              </a:rPr>
              <a:t>STRICT CHECKER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2761488"/>
            <a:ext cx="1965960" cy="43891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2500" b="1">
                <a:solidFill>
                  <a:srgbClr val="3667AD"/>
                </a:solidFill>
                <a:latin typeface="Aptos"/>
              </a:rPr>
              <a:t>62 / 98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3191256"/>
            <a:ext cx="1965960" cy="310896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900" b="1">
                <a:solidFill>
                  <a:srgbClr val="5B697A"/>
                </a:solidFill>
                <a:latin typeface="Aptos"/>
              </a:rPr>
              <a:t>SEED VALIDATION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80" y="2761488"/>
            <a:ext cx="1965960" cy="43891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2500" b="1">
                <a:solidFill>
                  <a:srgbClr val="E05D49"/>
                </a:solidFill>
                <a:latin typeface="Aptos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4680" y="3191256"/>
            <a:ext cx="1965960" cy="310896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900" b="1">
                <a:solidFill>
                  <a:srgbClr val="5B697A"/>
                </a:solidFill>
                <a:latin typeface="Aptos"/>
              </a:rPr>
              <a:t>CANDIDATES ABOVE SEED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" y="3886200"/>
            <a:ext cx="1965960" cy="43891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2500" b="1">
                <a:solidFill>
                  <a:srgbClr val="3667AD"/>
                </a:solidFill>
                <a:latin typeface="Aptos"/>
              </a:rPr>
              <a:t>27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" y="4315968"/>
            <a:ext cx="1965960" cy="310896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900" b="1">
                <a:solidFill>
                  <a:srgbClr val="5B697A"/>
                </a:solidFill>
                <a:latin typeface="Aptos"/>
              </a:rPr>
              <a:t>LOGGED ITERATIONS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4680" y="3886200"/>
            <a:ext cx="1965960" cy="43891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2500" b="1">
                <a:solidFill>
                  <a:srgbClr val="3667AD"/>
                </a:solidFill>
                <a:latin typeface="Aptos"/>
              </a:rPr>
              <a:t>9.49M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54680" y="4315968"/>
            <a:ext cx="1965960" cy="310896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900" b="1">
                <a:solidFill>
                  <a:srgbClr val="5B697A"/>
                </a:solidFill>
                <a:latin typeface="Aptos"/>
              </a:rPr>
              <a:t>TOKENS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" y="5102352"/>
            <a:ext cx="4480560" cy="38404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200" b="0">
                <a:solidFill>
                  <a:srgbClr val="5B697A"/>
                </a:solidFill>
                <a:latin typeface="Aptos"/>
              </a:rPr>
              <a:t>Rule length expanded up to 9,236 characters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50976" y="5650992"/>
            <a:ext cx="4489704" cy="0"/>
          </a:xfrm>
          <a:prstGeom prst="line">
            <a:avLst/>
          </a:prstGeom>
          <a:ln w="38100">
            <a:solidFill>
              <a:srgbClr val="3667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199632" y="1847088"/>
            <a:ext cx="5349240" cy="4233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92240" y="2103120"/>
            <a:ext cx="530352" cy="530352"/>
          </a:xfrm>
          <a:prstGeom prst="ellipse">
            <a:avLst/>
          </a:prstGeom>
          <a:solidFill>
            <a:srgbClr val="EFF3F7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6693407" y="2221991"/>
            <a:ext cx="128017" cy="0"/>
          </a:xfrm>
          <a:prstGeom prst="line">
            <a:avLst/>
          </a:prstGeom>
          <a:ln w="25400">
            <a:solidFill>
              <a:srgbClr val="0089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720840" y="2221991"/>
            <a:ext cx="0" cy="155448"/>
          </a:xfrm>
          <a:prstGeom prst="line">
            <a:avLst/>
          </a:prstGeom>
          <a:ln w="25400">
            <a:solidFill>
              <a:srgbClr val="0089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793992" y="2221991"/>
            <a:ext cx="0" cy="155448"/>
          </a:xfrm>
          <a:prstGeom prst="line">
            <a:avLst/>
          </a:prstGeom>
          <a:ln w="25400">
            <a:solidFill>
              <a:srgbClr val="0089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6620255" y="2377439"/>
            <a:ext cx="100585" cy="118873"/>
          </a:xfrm>
          <a:prstGeom prst="line">
            <a:avLst/>
          </a:prstGeom>
          <a:ln w="25400">
            <a:solidFill>
              <a:srgbClr val="0089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793992" y="2377439"/>
            <a:ext cx="100584" cy="118873"/>
          </a:xfrm>
          <a:prstGeom prst="line">
            <a:avLst/>
          </a:prstGeom>
          <a:ln w="25400">
            <a:solidFill>
              <a:srgbClr val="0089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620255" y="2496312"/>
            <a:ext cx="274321" cy="0"/>
          </a:xfrm>
          <a:prstGeom prst="line">
            <a:avLst/>
          </a:prstGeom>
          <a:ln w="25400">
            <a:solidFill>
              <a:srgbClr val="0089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187184" y="2075688"/>
            <a:ext cx="3474720" cy="329184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200" b="1">
                <a:solidFill>
                  <a:srgbClr val="008991"/>
                </a:solidFill>
                <a:latin typeface="Aptos"/>
              </a:rPr>
              <a:t>NEW REFLECTION PROMPT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10528" y="2761488"/>
            <a:ext cx="1965960" cy="43891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2500" b="1">
                <a:solidFill>
                  <a:srgbClr val="008991"/>
                </a:solidFill>
                <a:latin typeface="Aptos"/>
              </a:rPr>
              <a:t>66 → 68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10528" y="3191256"/>
            <a:ext cx="1965960" cy="310896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900" b="1">
                <a:solidFill>
                  <a:srgbClr val="5B697A"/>
                </a:solidFill>
                <a:latin typeface="Aptos"/>
              </a:rPr>
              <a:t>BEST VALIDATION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14232" y="2761488"/>
            <a:ext cx="1965960" cy="43891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2500" b="1">
                <a:solidFill>
                  <a:srgbClr val="359468"/>
                </a:solidFill>
                <a:latin typeface="Aptos"/>
              </a:rPr>
              <a:t>+2.04 pp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14232" y="3191256"/>
            <a:ext cx="1965960" cy="310896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900" b="1">
                <a:solidFill>
                  <a:srgbClr val="5B697A"/>
                </a:solidFill>
                <a:latin typeface="Aptos"/>
              </a:rPr>
              <a:t>OBSERVED GAIN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10528" y="3886200"/>
            <a:ext cx="1965960" cy="43891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2500" b="1">
                <a:solidFill>
                  <a:srgbClr val="008991"/>
                </a:solidFill>
                <a:latin typeface="Aptos"/>
              </a:rPr>
              <a:t>71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10528" y="4315968"/>
            <a:ext cx="1965960" cy="310896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900" b="1">
                <a:solidFill>
                  <a:srgbClr val="5B697A"/>
                </a:solidFill>
                <a:latin typeface="Aptos"/>
              </a:rPr>
              <a:t>LOGGED ITERATIONS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14232" y="3886200"/>
            <a:ext cx="1965960" cy="43891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2500" b="1">
                <a:solidFill>
                  <a:srgbClr val="008991"/>
                </a:solidFill>
                <a:latin typeface="Aptos"/>
              </a:rPr>
              <a:t>19.57M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14232" y="4315968"/>
            <a:ext cx="1965960" cy="310896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900" b="1">
                <a:solidFill>
                  <a:srgbClr val="5B697A"/>
                </a:solidFill>
                <a:latin typeface="Aptos"/>
              </a:rPr>
              <a:t>TOKENS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10528" y="5102352"/>
            <a:ext cx="4480560" cy="38404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200" b="0">
                <a:solidFill>
                  <a:srgbClr val="5B697A"/>
                </a:solidFill>
                <a:latin typeface="Aptos"/>
              </a:rPr>
              <a:t>Normal candidates held near 2.3–3.7k characters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510528" y="5650992"/>
            <a:ext cx="4489704" cy="0"/>
          </a:xfrm>
          <a:prstGeom prst="line">
            <a:avLst/>
          </a:prstGeom>
          <a:ln w="38100">
            <a:solidFill>
              <a:srgbClr val="0089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94360" y="6565392"/>
            <a:ext cx="10515600" cy="16459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800" b="0">
                <a:solidFill>
                  <a:srgbClr val="5B697A"/>
                </a:solidFill>
                <a:latin typeface="Aptos"/>
              </a:rPr>
              <a:t>Offline archive · validation denominator = 98 · results are run-specific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47120" y="6565392"/>
            <a:ext cx="347472" cy="16459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800" b="1">
                <a:solidFill>
                  <a:srgbClr val="5B697A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2468880" cy="25603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900" b="1">
                <a:solidFill>
                  <a:srgbClr val="008991"/>
                </a:solidFill>
                <a:latin typeface="Aptos"/>
              </a:rPr>
              <a:t>ONLINE GEPA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2700" b="1">
                <a:solidFill>
                  <a:srgbClr val="181F2A"/>
                </a:solidFill>
                <a:latin typeface="Aptos"/>
              </a:rPr>
              <a:t>A causal optimization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70432"/>
            <a:ext cx="10789920" cy="36576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200" b="0">
                <a:solidFill>
                  <a:srgbClr val="5B697A"/>
                </a:solidFill>
                <a:latin typeface="Aptos"/>
              </a:rPr>
              <a:t>Candidate rules influence the plan, the patch, and finally the official score.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572768"/>
            <a:ext cx="11000232" cy="0"/>
          </a:xfrm>
          <a:prstGeom prst="line">
            <a:avLst/>
          </a:prstGeom>
          <a:ln w="12700">
            <a:solidFill>
              <a:srgbClr val="D3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02920" y="2148840"/>
            <a:ext cx="20574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67512" y="2350008"/>
            <a:ext cx="475488" cy="475488"/>
          </a:xfrm>
          <a:prstGeom prst="ellipse">
            <a:avLst/>
          </a:prstGeom>
          <a:solidFill>
            <a:srgbClr val="EFF3F7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62609" y="2445105"/>
            <a:ext cx="285292" cy="285292"/>
          </a:xfrm>
          <a:prstGeom prst="ellipse">
            <a:avLst/>
          </a:prstGeom>
          <a:solidFill>
            <a:srgbClr val="FFFFFF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3442" y="2525938"/>
            <a:ext cx="123626" cy="123626"/>
          </a:xfrm>
          <a:prstGeom prst="ellipse">
            <a:avLst/>
          </a:prstGeom>
          <a:solidFill>
            <a:srgbClr val="008991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52728" y="2313432"/>
            <a:ext cx="1188720" cy="310896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1">
                <a:solidFill>
                  <a:srgbClr val="181F2A"/>
                </a:solidFill>
                <a:latin typeface="Aptos"/>
              </a:rPr>
              <a:t>Plan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2728" y="2633472"/>
            <a:ext cx="1188720" cy="310896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900" b="0">
                <a:solidFill>
                  <a:srgbClr val="5B697A"/>
                </a:solidFill>
                <a:latin typeface="Aptos"/>
              </a:rPr>
              <a:t>Issue + repo + rules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63240" y="2148840"/>
            <a:ext cx="20574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227832" y="2350008"/>
            <a:ext cx="475488" cy="475488"/>
          </a:xfrm>
          <a:prstGeom prst="ellipse">
            <a:avLst/>
          </a:prstGeom>
          <a:solidFill>
            <a:srgbClr val="EFF3F7"/>
          </a:solidFill>
          <a:ln>
            <a:solidFill>
              <a:srgbClr val="36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27832" y="2350008"/>
            <a:ext cx="475488" cy="47548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2800" b="1">
                <a:solidFill>
                  <a:srgbClr val="3667AD"/>
                </a:solidFill>
                <a:latin typeface="Aptos"/>
              </a:rPr>
              <a:t>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13048" y="2313432"/>
            <a:ext cx="1188720" cy="310896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1">
                <a:solidFill>
                  <a:srgbClr val="181F2A"/>
                </a:solidFill>
                <a:latin typeface="Aptos"/>
              </a:rPr>
              <a:t>Code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3048" y="2633472"/>
            <a:ext cx="1188720" cy="310896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900" b="0">
                <a:solidFill>
                  <a:srgbClr val="5B697A"/>
                </a:solidFill>
                <a:latin typeface="Aptos"/>
              </a:rPr>
              <a:t>Issue + plan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23560" y="2148840"/>
            <a:ext cx="20574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88152" y="2350008"/>
            <a:ext cx="475488" cy="475488"/>
          </a:xfrm>
          <a:prstGeom prst="ellipse">
            <a:avLst/>
          </a:prstGeom>
          <a:solidFill>
            <a:srgbClr val="EFF3F7"/>
          </a:solidFill>
          <a:ln>
            <a:solidFill>
              <a:srgbClr val="E05D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Heart 18"/>
          <p:cNvSpPr/>
          <p:nvPr/>
        </p:nvSpPr>
        <p:spPr>
          <a:xfrm rot="10800000">
            <a:off x="5916168" y="2459736"/>
            <a:ext cx="219456" cy="274320"/>
          </a:xfrm>
          <a:prstGeom prst="heart">
            <a:avLst/>
          </a:prstGeom>
          <a:solidFill>
            <a:srgbClr val="FFFFFF"/>
          </a:solidFill>
          <a:ln>
            <a:solidFill>
              <a:srgbClr val="E05D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34456" y="2478024"/>
            <a:ext cx="182880" cy="219456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1">
                <a:solidFill>
                  <a:srgbClr val="E05D49"/>
                </a:solidFill>
                <a:latin typeface="Aptos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3368" y="2313432"/>
            <a:ext cx="1188720" cy="310896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1">
                <a:solidFill>
                  <a:srgbClr val="181F2A"/>
                </a:solidFill>
                <a:latin typeface="Aptos"/>
              </a:rPr>
              <a:t>Evaluator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2633472"/>
            <a:ext cx="1188720" cy="310896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900" b="0">
                <a:solidFill>
                  <a:srgbClr val="5B697A"/>
                </a:solidFill>
                <a:latin typeface="Aptos"/>
              </a:rPr>
              <a:t>Patch + clean base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83879" y="2148840"/>
            <a:ext cx="20574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348471" y="2350008"/>
            <a:ext cx="475488" cy="475488"/>
          </a:xfrm>
          <a:prstGeom prst="ellipse">
            <a:avLst/>
          </a:prstGeom>
          <a:solidFill>
            <a:srgbClr val="EFF3F7"/>
          </a:solidFill>
          <a:ln>
            <a:solidFill>
              <a:srgbClr val="E0A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467344" y="2478024"/>
            <a:ext cx="237744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A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503919" y="2496312"/>
            <a:ext cx="32004" cy="32004"/>
          </a:xfrm>
          <a:prstGeom prst="ellipse">
            <a:avLst/>
          </a:prstGeom>
          <a:solidFill>
            <a:srgbClr val="E0A336"/>
          </a:solidFill>
          <a:ln>
            <a:solidFill>
              <a:srgbClr val="E0A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467344" y="2587752"/>
            <a:ext cx="237744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A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503919" y="2606040"/>
            <a:ext cx="32004" cy="32004"/>
          </a:xfrm>
          <a:prstGeom prst="ellipse">
            <a:avLst/>
          </a:prstGeom>
          <a:solidFill>
            <a:srgbClr val="E0A336"/>
          </a:solidFill>
          <a:ln>
            <a:solidFill>
              <a:srgbClr val="E0A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467344" y="2697480"/>
            <a:ext cx="237744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A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503919" y="2715768"/>
            <a:ext cx="32004" cy="32004"/>
          </a:xfrm>
          <a:prstGeom prst="ellipse">
            <a:avLst/>
          </a:prstGeom>
          <a:solidFill>
            <a:srgbClr val="E0A336"/>
          </a:solidFill>
          <a:ln>
            <a:solidFill>
              <a:srgbClr val="E0A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33688" y="2313432"/>
            <a:ext cx="1188720" cy="310896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1">
                <a:solidFill>
                  <a:srgbClr val="181F2A"/>
                </a:solidFill>
                <a:latin typeface="Aptos"/>
              </a:rPr>
              <a:t>Evidence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33688" y="2633472"/>
            <a:ext cx="1188720" cy="310896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900" b="0">
                <a:solidFill>
                  <a:srgbClr val="5B697A"/>
                </a:solidFill>
                <a:latin typeface="Aptos"/>
              </a:rPr>
              <a:t>Trajectories + score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560320" y="2724912"/>
            <a:ext cx="457200" cy="0"/>
          </a:xfrm>
          <a:prstGeom prst="line">
            <a:avLst/>
          </a:prstGeom>
          <a:ln w="27940">
            <a:solidFill>
              <a:srgbClr val="0089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120640" y="2724912"/>
            <a:ext cx="457200" cy="0"/>
          </a:xfrm>
          <a:prstGeom prst="line">
            <a:avLst/>
          </a:prstGeom>
          <a:ln w="27940">
            <a:solidFill>
              <a:srgbClr val="3667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680960" y="2724912"/>
            <a:ext cx="457200" cy="0"/>
          </a:xfrm>
          <a:prstGeom prst="line">
            <a:avLst/>
          </a:prstGeom>
          <a:ln w="27940">
            <a:solidFill>
              <a:srgbClr val="E05D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8183879" y="4343400"/>
            <a:ext cx="20574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348471" y="4544568"/>
            <a:ext cx="475488" cy="475488"/>
          </a:xfrm>
          <a:prstGeom prst="ellipse">
            <a:avLst/>
          </a:prstGeom>
          <a:solidFill>
            <a:srgbClr val="EFF3F7"/>
          </a:solidFill>
          <a:ln>
            <a:solidFill>
              <a:srgbClr val="E0A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8522207" y="4663440"/>
            <a:ext cx="128017" cy="0"/>
          </a:xfrm>
          <a:prstGeom prst="line">
            <a:avLst/>
          </a:prstGeom>
          <a:ln w="25400">
            <a:solidFill>
              <a:srgbClr val="E0A3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549640" y="4663440"/>
            <a:ext cx="0" cy="155448"/>
          </a:xfrm>
          <a:prstGeom prst="line">
            <a:avLst/>
          </a:prstGeom>
          <a:ln w="25400">
            <a:solidFill>
              <a:srgbClr val="E0A3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622791" y="4663440"/>
            <a:ext cx="0" cy="155448"/>
          </a:xfrm>
          <a:prstGeom prst="line">
            <a:avLst/>
          </a:prstGeom>
          <a:ln w="25400">
            <a:solidFill>
              <a:srgbClr val="E0A3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8449055" y="4818888"/>
            <a:ext cx="100585" cy="118871"/>
          </a:xfrm>
          <a:prstGeom prst="line">
            <a:avLst/>
          </a:prstGeom>
          <a:ln w="25400">
            <a:solidFill>
              <a:srgbClr val="E0A3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622791" y="4818888"/>
            <a:ext cx="100585" cy="118871"/>
          </a:xfrm>
          <a:prstGeom prst="line">
            <a:avLst/>
          </a:prstGeom>
          <a:ln w="25400">
            <a:solidFill>
              <a:srgbClr val="E0A3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449055" y="4937759"/>
            <a:ext cx="274321" cy="0"/>
          </a:xfrm>
          <a:prstGeom prst="line">
            <a:avLst/>
          </a:prstGeom>
          <a:ln w="25400">
            <a:solidFill>
              <a:srgbClr val="E0A3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8933688" y="4507992"/>
            <a:ext cx="1188720" cy="310896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1">
                <a:solidFill>
                  <a:srgbClr val="181F2A"/>
                </a:solidFill>
                <a:latin typeface="Aptos"/>
              </a:rPr>
              <a:t>GEPA Reflection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33688" y="4828032"/>
            <a:ext cx="1188720" cy="310896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900" b="0">
                <a:solidFill>
                  <a:srgbClr val="5B697A"/>
                </a:solidFill>
                <a:latin typeface="Aptos"/>
              </a:rPr>
              <a:t>Propose new rules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217152" y="3310128"/>
            <a:ext cx="0" cy="987552"/>
          </a:xfrm>
          <a:prstGeom prst="line">
            <a:avLst/>
          </a:prstGeom>
          <a:ln w="27940">
            <a:solidFill>
              <a:srgbClr val="E0A3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1920240" y="4919472"/>
            <a:ext cx="6217920" cy="0"/>
          </a:xfrm>
          <a:prstGeom prst="line">
            <a:avLst/>
          </a:prstGeom>
          <a:ln w="27940">
            <a:solidFill>
              <a:srgbClr val="E0A3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1920240" y="3337560"/>
            <a:ext cx="0" cy="1581912"/>
          </a:xfrm>
          <a:prstGeom prst="line">
            <a:avLst/>
          </a:prstGeom>
          <a:ln w="27940">
            <a:solidFill>
              <a:srgbClr val="E0A3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10607040" y="2139696"/>
            <a:ext cx="969264" cy="3355848"/>
          </a:xfrm>
          <a:prstGeom prst="roundRect">
            <a:avLst>
              <a:gd name="adj" fmla="val 8000"/>
            </a:avLst>
          </a:prstGeom>
          <a:solidFill>
            <a:srgbClr val="EFF3F7"/>
          </a:solidFill>
          <a:ln w="12700">
            <a:solidFill>
              <a:srgbClr val="EFF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744200" y="2404872"/>
            <a:ext cx="685800" cy="29260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800" b="1">
                <a:solidFill>
                  <a:srgbClr val="008991"/>
                </a:solidFill>
                <a:latin typeface="Aptos"/>
              </a:rPr>
              <a:t>VISIBILITY</a:t>
            </a:r>
          </a:p>
        </p:txBody>
      </p:sp>
      <p:sp>
        <p:nvSpPr>
          <p:cNvPr id="51" name="Oval 50"/>
          <p:cNvSpPr/>
          <p:nvPr/>
        </p:nvSpPr>
        <p:spPr>
          <a:xfrm>
            <a:off x="10835640" y="2926080"/>
            <a:ext cx="164592" cy="164592"/>
          </a:xfrm>
          <a:prstGeom prst="ellipse">
            <a:avLst/>
          </a:prstGeom>
          <a:solidFill>
            <a:srgbClr val="008991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064240" y="2862072"/>
            <a:ext cx="411480" cy="27432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800" b="0">
                <a:solidFill>
                  <a:srgbClr val="5B697A"/>
                </a:solidFill>
                <a:latin typeface="Aptos"/>
              </a:rPr>
              <a:t>Rules</a:t>
            </a:r>
          </a:p>
        </p:txBody>
      </p:sp>
      <p:sp>
        <p:nvSpPr>
          <p:cNvPr id="53" name="Oval 52"/>
          <p:cNvSpPr/>
          <p:nvPr/>
        </p:nvSpPr>
        <p:spPr>
          <a:xfrm>
            <a:off x="10835640" y="3429000"/>
            <a:ext cx="164592" cy="164592"/>
          </a:xfrm>
          <a:prstGeom prst="ellipse">
            <a:avLst/>
          </a:prstGeom>
          <a:solidFill>
            <a:srgbClr val="3667AD"/>
          </a:solidFill>
          <a:ln>
            <a:solidFill>
              <a:srgbClr val="36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064240" y="3364991"/>
            <a:ext cx="411480" cy="27432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800" b="0">
                <a:solidFill>
                  <a:srgbClr val="5B697A"/>
                </a:solidFill>
                <a:latin typeface="Aptos"/>
              </a:rPr>
              <a:t>Plan</a:t>
            </a:r>
          </a:p>
        </p:txBody>
      </p:sp>
      <p:sp>
        <p:nvSpPr>
          <p:cNvPr id="55" name="Oval 54"/>
          <p:cNvSpPr/>
          <p:nvPr/>
        </p:nvSpPr>
        <p:spPr>
          <a:xfrm>
            <a:off x="10835640" y="3931920"/>
            <a:ext cx="164592" cy="164592"/>
          </a:xfrm>
          <a:prstGeom prst="ellipse">
            <a:avLst/>
          </a:prstGeom>
          <a:solidFill>
            <a:srgbClr val="E05D49"/>
          </a:solidFill>
          <a:ln>
            <a:solidFill>
              <a:srgbClr val="E05D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064240" y="3867912"/>
            <a:ext cx="411480" cy="27432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800" b="0">
                <a:solidFill>
                  <a:srgbClr val="5B697A"/>
                </a:solidFill>
                <a:latin typeface="Aptos"/>
              </a:rPr>
              <a:t>Patch</a:t>
            </a:r>
          </a:p>
        </p:txBody>
      </p:sp>
      <p:sp>
        <p:nvSpPr>
          <p:cNvPr id="57" name="Oval 56"/>
          <p:cNvSpPr/>
          <p:nvPr/>
        </p:nvSpPr>
        <p:spPr>
          <a:xfrm>
            <a:off x="10835640" y="4434840"/>
            <a:ext cx="164592" cy="164592"/>
          </a:xfrm>
          <a:prstGeom prst="ellipse">
            <a:avLst/>
          </a:prstGeom>
          <a:solidFill>
            <a:srgbClr val="E0A336"/>
          </a:solidFill>
          <a:ln>
            <a:solidFill>
              <a:srgbClr val="E0A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064240" y="4370832"/>
            <a:ext cx="411480" cy="27432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800" b="0">
                <a:solidFill>
                  <a:srgbClr val="5B697A"/>
                </a:solidFill>
                <a:latin typeface="Aptos"/>
              </a:rPr>
              <a:t>Score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94360" y="6565392"/>
            <a:ext cx="10515600" cy="16459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800" b="0">
                <a:solidFill>
                  <a:srgbClr val="5B697A"/>
                </a:solidFill>
                <a:latin typeface="Aptos"/>
              </a:rPr>
              <a:t>Vibe Coding Planning · Research progress · 15 Jul 2026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247120" y="6565392"/>
            <a:ext cx="347472" cy="16459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800" b="1">
                <a:solidFill>
                  <a:srgbClr val="5B697A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2468880" cy="25603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900" b="1">
                <a:solidFill>
                  <a:srgbClr val="008991"/>
                </a:solidFill>
                <a:latin typeface="Aptos"/>
              </a:rPr>
              <a:t>EXECUTION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2700" b="1">
                <a:solidFill>
                  <a:srgbClr val="181F2A"/>
                </a:solidFill>
                <a:latin typeface="Aptos"/>
              </a:rPr>
              <a:t>Parallel rollouts with checkpointed recovery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70432"/>
            <a:ext cx="10789920" cy="36576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200" b="0">
                <a:solidFill>
                  <a:srgbClr val="5B697A"/>
                </a:solidFill>
                <a:latin typeface="Aptos"/>
              </a:rPr>
              <a:t>Expensive parallel work is preserved; incomplete atomic phases are safely retried.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572768"/>
            <a:ext cx="11000232" cy="0"/>
          </a:xfrm>
          <a:prstGeom prst="line">
            <a:avLst/>
          </a:prstGeom>
          <a:ln w="12700">
            <a:solidFill>
              <a:srgbClr val="D3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94360" y="1965960"/>
            <a:ext cx="21031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58952" y="2167128"/>
            <a:ext cx="475488" cy="475488"/>
          </a:xfrm>
          <a:prstGeom prst="ellipse">
            <a:avLst/>
          </a:prstGeom>
          <a:solidFill>
            <a:srgbClr val="EFF3F7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167128"/>
            <a:ext cx="475488" cy="47548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2800" b="1">
                <a:solidFill>
                  <a:srgbClr val="008991"/>
                </a:solidFill>
                <a:latin typeface="Aptos"/>
              </a:rPr>
              <a:t>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4168" y="2130552"/>
            <a:ext cx="1234439" cy="310896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1">
                <a:solidFill>
                  <a:srgbClr val="181F2A"/>
                </a:solidFill>
                <a:latin typeface="Aptos"/>
              </a:rPr>
              <a:t>Controller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4168" y="2450591"/>
            <a:ext cx="1234439" cy="310896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900" b="0">
                <a:solidFill>
                  <a:srgbClr val="5B697A"/>
                </a:solidFill>
                <a:latin typeface="Aptos"/>
              </a:rPr>
              <a:t>GEPA state machine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54680" y="1965960"/>
            <a:ext cx="21031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319272" y="2167128"/>
            <a:ext cx="475488" cy="475488"/>
          </a:xfrm>
          <a:prstGeom prst="ellipse">
            <a:avLst/>
          </a:prstGeom>
          <a:solidFill>
            <a:srgbClr val="EFF3F7"/>
          </a:solidFill>
          <a:ln>
            <a:solidFill>
              <a:srgbClr val="36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38144" y="2295144"/>
            <a:ext cx="237744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36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74720" y="2313432"/>
            <a:ext cx="32004" cy="32004"/>
          </a:xfrm>
          <a:prstGeom prst="ellipse">
            <a:avLst/>
          </a:prstGeom>
          <a:solidFill>
            <a:srgbClr val="3667AD"/>
          </a:solidFill>
          <a:ln>
            <a:solidFill>
              <a:srgbClr val="36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38144" y="2404872"/>
            <a:ext cx="237744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36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474720" y="2423160"/>
            <a:ext cx="32004" cy="32004"/>
          </a:xfrm>
          <a:prstGeom prst="ellipse">
            <a:avLst/>
          </a:prstGeom>
          <a:solidFill>
            <a:srgbClr val="3667AD"/>
          </a:solidFill>
          <a:ln>
            <a:solidFill>
              <a:srgbClr val="36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38144" y="2514600"/>
            <a:ext cx="237744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36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474720" y="2532888"/>
            <a:ext cx="32004" cy="32004"/>
          </a:xfrm>
          <a:prstGeom prst="ellipse">
            <a:avLst/>
          </a:prstGeom>
          <a:solidFill>
            <a:srgbClr val="3667AD"/>
          </a:solidFill>
          <a:ln>
            <a:solidFill>
              <a:srgbClr val="36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04488" y="2130552"/>
            <a:ext cx="1234439" cy="310896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1">
                <a:solidFill>
                  <a:srgbClr val="181F2A"/>
                </a:solidFill>
                <a:latin typeface="Aptos"/>
              </a:rPr>
              <a:t>Slurm Array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04488" y="2450591"/>
            <a:ext cx="1234439" cy="310896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900" b="0">
                <a:solidFill>
                  <a:srgbClr val="5B697A"/>
                </a:solidFill>
                <a:latin typeface="Aptos"/>
              </a:rPr>
              <a:t>Independent workers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697480" y="2487168"/>
            <a:ext cx="411480" cy="0"/>
          </a:xfrm>
          <a:prstGeom prst="line">
            <a:avLst/>
          </a:prstGeom>
          <a:ln w="27940">
            <a:solidFill>
              <a:srgbClr val="0089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715000" y="1783080"/>
            <a:ext cx="91440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24728" y="1911095"/>
            <a:ext cx="182880" cy="182880"/>
          </a:xfrm>
          <a:prstGeom prst="ellipse">
            <a:avLst/>
          </a:prstGeom>
          <a:solidFill>
            <a:srgbClr val="008991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24728" y="2148840"/>
            <a:ext cx="694944" cy="20116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000" b="1">
                <a:solidFill>
                  <a:srgbClr val="181F2A"/>
                </a:solidFill>
                <a:latin typeface="Aptos"/>
              </a:rPr>
              <a:t>W01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76288" y="1783080"/>
            <a:ext cx="91440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986016" y="1911095"/>
            <a:ext cx="182880" cy="182880"/>
          </a:xfrm>
          <a:prstGeom prst="ellipse">
            <a:avLst/>
          </a:prstGeom>
          <a:solidFill>
            <a:srgbClr val="3667AD"/>
          </a:solidFill>
          <a:ln>
            <a:solidFill>
              <a:srgbClr val="36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86016" y="2148840"/>
            <a:ext cx="694944" cy="20116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000" b="1">
                <a:solidFill>
                  <a:srgbClr val="181F2A"/>
                </a:solidFill>
                <a:latin typeface="Aptos"/>
              </a:rPr>
              <a:t>W02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37575" y="1783080"/>
            <a:ext cx="91440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147303" y="1911095"/>
            <a:ext cx="182880" cy="182880"/>
          </a:xfrm>
          <a:prstGeom prst="ellipse">
            <a:avLst/>
          </a:prstGeom>
          <a:solidFill>
            <a:srgbClr val="E05D49"/>
          </a:solidFill>
          <a:ln>
            <a:solidFill>
              <a:srgbClr val="E05D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47303" y="2148840"/>
            <a:ext cx="694944" cy="20116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000" b="1">
                <a:solidFill>
                  <a:srgbClr val="181F2A"/>
                </a:solidFill>
                <a:latin typeface="Aptos"/>
              </a:rPr>
              <a:t>W03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15000" y="2880360"/>
            <a:ext cx="91440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824728" y="3008376"/>
            <a:ext cx="182880" cy="182880"/>
          </a:xfrm>
          <a:prstGeom prst="ellipse">
            <a:avLst/>
          </a:prstGeom>
          <a:solidFill>
            <a:srgbClr val="E0A336"/>
          </a:solidFill>
          <a:ln>
            <a:solidFill>
              <a:srgbClr val="E0A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24728" y="3246120"/>
            <a:ext cx="694944" cy="20116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000" b="1">
                <a:solidFill>
                  <a:srgbClr val="181F2A"/>
                </a:solidFill>
                <a:latin typeface="Aptos"/>
              </a:rPr>
              <a:t>W04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76288" y="2880360"/>
            <a:ext cx="91440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986016" y="3008376"/>
            <a:ext cx="182880" cy="182880"/>
          </a:xfrm>
          <a:prstGeom prst="ellipse">
            <a:avLst/>
          </a:prstGeom>
          <a:solidFill>
            <a:srgbClr val="359468"/>
          </a:solidFill>
          <a:ln>
            <a:solidFill>
              <a:srgbClr val="3594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86016" y="3246120"/>
            <a:ext cx="694944" cy="20116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000" b="1">
                <a:solidFill>
                  <a:srgbClr val="181F2A"/>
                </a:solidFill>
                <a:latin typeface="Aptos"/>
              </a:rPr>
              <a:t>W05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257800" y="2487168"/>
            <a:ext cx="393192" cy="0"/>
          </a:xfrm>
          <a:prstGeom prst="line">
            <a:avLst/>
          </a:prstGeom>
          <a:ln w="27940">
            <a:solidFill>
              <a:srgbClr val="3667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594360" y="3840480"/>
            <a:ext cx="10954512" cy="1618488"/>
          </a:xfrm>
          <a:prstGeom prst="roundRect">
            <a:avLst>
              <a:gd name="adj" fmla="val 8000"/>
            </a:avLst>
          </a:prstGeom>
          <a:solidFill>
            <a:srgbClr val="EFF3F7"/>
          </a:solidFill>
          <a:ln w="12700">
            <a:solidFill>
              <a:srgbClr val="EFF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96112" y="4160520"/>
            <a:ext cx="475488" cy="475488"/>
          </a:xfrm>
          <a:prstGeom prst="ellipse">
            <a:avLst/>
          </a:prstGeom>
          <a:solidFill>
            <a:srgbClr val="EFF3F7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Heart 39"/>
          <p:cNvSpPr/>
          <p:nvPr/>
        </p:nvSpPr>
        <p:spPr>
          <a:xfrm rot="10800000">
            <a:off x="1024128" y="4270248"/>
            <a:ext cx="219456" cy="274320"/>
          </a:xfrm>
          <a:prstGeom prst="heart">
            <a:avLst/>
          </a:prstGeom>
          <a:solidFill>
            <a:srgbClr val="FFFFFF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42415" y="4288536"/>
            <a:ext cx="182880" cy="219456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1">
                <a:solidFill>
                  <a:srgbClr val="008991"/>
                </a:solidFill>
                <a:latin typeface="Aptos"/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36192" y="4114800"/>
            <a:ext cx="1783080" cy="27432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300" b="1">
                <a:solidFill>
                  <a:srgbClr val="181F2A"/>
                </a:solidFill>
                <a:latin typeface="Aptos"/>
              </a:rPr>
              <a:t>Fingerprint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36192" y="4416552"/>
            <a:ext cx="1783080" cy="402336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900" b="0">
                <a:solidFill>
                  <a:srgbClr val="5B697A"/>
                </a:solidFill>
                <a:latin typeface="Aptos"/>
              </a:rPr>
              <a:t>Match the exact batch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3255264" y="4407408"/>
            <a:ext cx="265176" cy="0"/>
          </a:xfrm>
          <a:prstGeom prst="line">
            <a:avLst/>
          </a:prstGeom>
          <a:ln w="19050">
            <a:solidFill>
              <a:srgbClr val="D3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3639312" y="4160520"/>
            <a:ext cx="475488" cy="475488"/>
          </a:xfrm>
          <a:prstGeom prst="ellipse">
            <a:avLst/>
          </a:prstGeom>
          <a:solidFill>
            <a:srgbClr val="EFF3F7"/>
          </a:solidFill>
          <a:ln>
            <a:solidFill>
              <a:srgbClr val="36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758184" y="4288536"/>
            <a:ext cx="237744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36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794760" y="4306823"/>
            <a:ext cx="32004" cy="32004"/>
          </a:xfrm>
          <a:prstGeom prst="ellipse">
            <a:avLst/>
          </a:prstGeom>
          <a:solidFill>
            <a:srgbClr val="3667AD"/>
          </a:solidFill>
          <a:ln>
            <a:solidFill>
              <a:srgbClr val="36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758184" y="4398264"/>
            <a:ext cx="237744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36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794760" y="4416551"/>
            <a:ext cx="32004" cy="32004"/>
          </a:xfrm>
          <a:prstGeom prst="ellipse">
            <a:avLst/>
          </a:prstGeom>
          <a:solidFill>
            <a:srgbClr val="3667AD"/>
          </a:solidFill>
          <a:ln>
            <a:solidFill>
              <a:srgbClr val="36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758184" y="4507992"/>
            <a:ext cx="237744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36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3794760" y="4526279"/>
            <a:ext cx="32004" cy="32004"/>
          </a:xfrm>
          <a:prstGeom prst="ellipse">
            <a:avLst/>
          </a:prstGeom>
          <a:solidFill>
            <a:srgbClr val="3667AD"/>
          </a:solidFill>
          <a:ln>
            <a:solidFill>
              <a:srgbClr val="36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79392" y="4114800"/>
            <a:ext cx="1783080" cy="27432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300" b="1">
                <a:solidFill>
                  <a:srgbClr val="181F2A"/>
                </a:solidFill>
                <a:latin typeface="Aptos"/>
              </a:rPr>
              <a:t>Inspect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79392" y="4416552"/>
            <a:ext cx="1783080" cy="402336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900" b="0">
                <a:solidFill>
                  <a:srgbClr val="5B697A"/>
                </a:solidFill>
                <a:latin typeface="Aptos"/>
              </a:rPr>
              <a:t>Reuse completed outputs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5998464" y="4407408"/>
            <a:ext cx="265176" cy="0"/>
          </a:xfrm>
          <a:prstGeom prst="line">
            <a:avLst/>
          </a:prstGeom>
          <a:ln w="19050">
            <a:solidFill>
              <a:srgbClr val="D3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6382512" y="4160520"/>
            <a:ext cx="475488" cy="475488"/>
          </a:xfrm>
          <a:prstGeom prst="ellipse">
            <a:avLst/>
          </a:prstGeom>
          <a:solidFill>
            <a:srgbClr val="EFF3F7"/>
          </a:solidFill>
          <a:ln>
            <a:solidFill>
              <a:srgbClr val="E05D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82512" y="4160520"/>
            <a:ext cx="475488" cy="47548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2800" b="1">
                <a:solidFill>
                  <a:srgbClr val="E05D49"/>
                </a:solidFill>
                <a:latin typeface="Aptos"/>
              </a:rPr>
              <a:t>↻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022592" y="4114800"/>
            <a:ext cx="1783080" cy="27432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300" b="1">
                <a:solidFill>
                  <a:srgbClr val="181F2A"/>
                </a:solidFill>
                <a:latin typeface="Aptos"/>
              </a:rPr>
              <a:t>Retry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22592" y="4416552"/>
            <a:ext cx="1783080" cy="402336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900" b="0">
                <a:solidFill>
                  <a:srgbClr val="5B697A"/>
                </a:solidFill>
                <a:latin typeface="Aptos"/>
              </a:rPr>
              <a:t>Only failed or missing work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8741664" y="4407408"/>
            <a:ext cx="265176" cy="0"/>
          </a:xfrm>
          <a:prstGeom prst="line">
            <a:avLst/>
          </a:prstGeom>
          <a:ln w="19050">
            <a:solidFill>
              <a:srgbClr val="D3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Oval 59"/>
          <p:cNvSpPr/>
          <p:nvPr/>
        </p:nvSpPr>
        <p:spPr>
          <a:xfrm>
            <a:off x="9125712" y="4160520"/>
            <a:ext cx="475488" cy="475488"/>
          </a:xfrm>
          <a:prstGeom prst="ellipse">
            <a:avLst/>
          </a:prstGeom>
          <a:solidFill>
            <a:srgbClr val="EFF3F7"/>
          </a:solidFill>
          <a:ln>
            <a:solidFill>
              <a:srgbClr val="3594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Heart 60"/>
          <p:cNvSpPr/>
          <p:nvPr/>
        </p:nvSpPr>
        <p:spPr>
          <a:xfrm rot="10800000">
            <a:off x="9253728" y="4270248"/>
            <a:ext cx="219456" cy="274320"/>
          </a:xfrm>
          <a:prstGeom prst="heart">
            <a:avLst/>
          </a:prstGeom>
          <a:solidFill>
            <a:srgbClr val="FFFFFF"/>
          </a:solidFill>
          <a:ln>
            <a:solidFill>
              <a:srgbClr val="3594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272016" y="4288536"/>
            <a:ext cx="182880" cy="219456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1">
                <a:solidFill>
                  <a:srgbClr val="359468"/>
                </a:solidFill>
                <a:latin typeface="Aptos"/>
              </a:rPr>
              <a:t>✓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765792" y="4114800"/>
            <a:ext cx="1783080" cy="27432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300" b="1">
                <a:solidFill>
                  <a:srgbClr val="181F2A"/>
                </a:solidFill>
                <a:latin typeface="Aptos"/>
              </a:rPr>
              <a:t>Commit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765792" y="4416552"/>
            <a:ext cx="1783080" cy="402336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900" b="0">
                <a:solidFill>
                  <a:srgbClr val="5B697A"/>
                </a:solidFill>
                <a:latin typeface="Aptos"/>
              </a:rPr>
              <a:t>Score complete evidence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8368" y="5806440"/>
            <a:ext cx="10789920" cy="329184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100" b="0">
                <a:solidFill>
                  <a:srgbClr val="5B697A"/>
                </a:solidFill>
                <a:latin typeface="Aptos"/>
              </a:rPr>
              <a:t>1 CPU / 4 GB per worker  ·  Plan → Code → Evaluator checkpoints  ·  30-minute supervisor polling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94360" y="6565392"/>
            <a:ext cx="10515600" cy="16459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800" b="0">
                <a:solidFill>
                  <a:srgbClr val="5B697A"/>
                </a:solidFill>
                <a:latin typeface="Aptos"/>
              </a:rPr>
              <a:t>Vibe Coding Planning · Research progress · 15 Jul 2026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247120" y="6565392"/>
            <a:ext cx="347472" cy="16459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800" b="1">
                <a:solidFill>
                  <a:srgbClr val="5B697A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2468880" cy="25603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900" b="1">
                <a:solidFill>
                  <a:srgbClr val="008991"/>
                </a:solidFill>
                <a:latin typeface="Aptos"/>
              </a:rPr>
              <a:t>CURRENT 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2700" b="1">
                <a:solidFill>
                  <a:srgbClr val="181F2A"/>
                </a:solidFill>
                <a:latin typeface="Aptos"/>
              </a:rPr>
              <a:t>One validation batch ≈ 61.9 million tokens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70432"/>
            <a:ext cx="10789920" cy="36576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200" b="0">
                <a:solidFill>
                  <a:srgbClr val="5B697A"/>
                </a:solidFill>
                <a:latin typeface="Aptos"/>
              </a:rPr>
              <a:t>The full online trajectory is substantially richer—and more expensive—than a Checker call.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572768"/>
            <a:ext cx="11000232" cy="0"/>
          </a:xfrm>
          <a:prstGeom prst="line">
            <a:avLst/>
          </a:prstGeom>
          <a:ln w="12700">
            <a:solidFill>
              <a:srgbClr val="D3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1938528"/>
            <a:ext cx="2286000" cy="43891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2500" b="1">
                <a:solidFill>
                  <a:srgbClr val="008991"/>
                </a:solidFill>
                <a:latin typeface="Aptos"/>
              </a:rPr>
              <a:t>98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68296"/>
            <a:ext cx="2286000" cy="310896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900" b="1">
                <a:solidFill>
                  <a:srgbClr val="5B697A"/>
                </a:solidFill>
                <a:latin typeface="Aptos"/>
              </a:rPr>
              <a:t>VALIDATION CASES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938528"/>
            <a:ext cx="2286000" cy="43891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2500" b="1">
                <a:solidFill>
                  <a:srgbClr val="3667AD"/>
                </a:solidFill>
                <a:latin typeface="Aptos"/>
              </a:rPr>
              <a:t>5,135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368296"/>
            <a:ext cx="2286000" cy="310896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900" b="1">
                <a:solidFill>
                  <a:srgbClr val="5B697A"/>
                </a:solidFill>
                <a:latin typeface="Aptos"/>
              </a:rPr>
              <a:t>MODEL CALLS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9240" y="1938528"/>
            <a:ext cx="2286000" cy="43891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2500" b="1">
                <a:solidFill>
                  <a:srgbClr val="E05D49"/>
                </a:solidFill>
                <a:latin typeface="Aptos"/>
              </a:rPr>
              <a:t>61.87M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9240" y="2368296"/>
            <a:ext cx="2286000" cy="310896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900" b="1">
                <a:solidFill>
                  <a:srgbClr val="5B697A"/>
                </a:solidFill>
                <a:latin typeface="Aptos"/>
              </a:rPr>
              <a:t>TOTAL TOKENS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1938528"/>
            <a:ext cx="2286000" cy="43891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2500" b="1">
                <a:solidFill>
                  <a:srgbClr val="359468"/>
                </a:solidFill>
                <a:latin typeface="Aptos"/>
              </a:rPr>
              <a:t>54 / 96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2368296"/>
            <a:ext cx="2286000" cy="310896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900" b="1">
                <a:solidFill>
                  <a:srgbClr val="5B697A"/>
                </a:solidFill>
                <a:latin typeface="Aptos"/>
              </a:rPr>
              <a:t>RESOLVED / SCORED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236976"/>
            <a:ext cx="3840480" cy="32004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000" b="1">
                <a:solidFill>
                  <a:srgbClr val="5B697A"/>
                </a:solidFill>
                <a:latin typeface="Aptos"/>
              </a:rPr>
              <a:t>TOKEN DISTRIBUTION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685032"/>
            <a:ext cx="10744200" cy="658368"/>
          </a:xfrm>
          <a:prstGeom prst="roundRect">
            <a:avLst>
              <a:gd name="adj" fmla="val 8000"/>
            </a:avLst>
          </a:prstGeom>
          <a:solidFill>
            <a:srgbClr val="EFF3F7"/>
          </a:solidFill>
          <a:ln w="12700">
            <a:solidFill>
              <a:srgbClr val="EFF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3685032"/>
            <a:ext cx="6437376" cy="658368"/>
          </a:xfrm>
          <a:prstGeom prst="rect">
            <a:avLst/>
          </a:prstGeom>
          <a:solidFill>
            <a:srgbClr val="008991"/>
          </a:solidFill>
          <a:ln w="12700"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123176" y="3685032"/>
            <a:ext cx="4306824" cy="658368"/>
          </a:xfrm>
          <a:prstGeom prst="rect">
            <a:avLst/>
          </a:prstGeom>
          <a:solidFill>
            <a:srgbClr val="3667AD"/>
          </a:solidFill>
          <a:ln w="12700">
            <a:solidFill>
              <a:srgbClr val="36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785615"/>
            <a:ext cx="2926080" cy="38404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PLAN · 37.07M · 60%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88352" y="3785615"/>
            <a:ext cx="3383280" cy="38404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CODE · 24.79M · 40%</a:t>
            </a:r>
          </a:p>
        </p:txBody>
      </p:sp>
      <p:sp>
        <p:nvSpPr>
          <p:cNvPr id="20" name="Oval 19"/>
          <p:cNvSpPr/>
          <p:nvPr/>
        </p:nvSpPr>
        <p:spPr>
          <a:xfrm>
            <a:off x="713232" y="4892040"/>
            <a:ext cx="502920" cy="502920"/>
          </a:xfrm>
          <a:prstGeom prst="ellipse">
            <a:avLst/>
          </a:prstGeom>
          <a:solidFill>
            <a:srgbClr val="EFF3F7"/>
          </a:solidFill>
          <a:ln>
            <a:solidFill>
              <a:srgbClr val="E05D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13816" y="4992624"/>
            <a:ext cx="301752" cy="301752"/>
          </a:xfrm>
          <a:prstGeom prst="ellipse">
            <a:avLst/>
          </a:prstGeom>
          <a:solidFill>
            <a:srgbClr val="FFFFFF"/>
          </a:solidFill>
          <a:ln>
            <a:solidFill>
              <a:srgbClr val="E05D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99312" y="5078120"/>
            <a:ext cx="130759" cy="130759"/>
          </a:xfrm>
          <a:prstGeom prst="ellipse">
            <a:avLst/>
          </a:prstGeom>
          <a:solidFill>
            <a:srgbClr val="E05D49"/>
          </a:solidFill>
          <a:ln>
            <a:solidFill>
              <a:srgbClr val="E05D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89888" y="4855464"/>
            <a:ext cx="4389120" cy="34747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500" b="1">
                <a:solidFill>
                  <a:srgbClr val="181F2A"/>
                </a:solidFill>
                <a:latin typeface="Aptos"/>
              </a:rPr>
              <a:t>Current bottleneck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9888" y="5193792"/>
            <a:ext cx="4572000" cy="34747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100" b="0">
                <a:solidFill>
                  <a:srgbClr val="5B697A"/>
                </a:solidFill>
                <a:latin typeface="Aptos"/>
              </a:rPr>
              <a:t>Long-tail planning trajectories</a:t>
            </a:r>
          </a:p>
        </p:txBody>
      </p:sp>
      <p:sp>
        <p:nvSpPr>
          <p:cNvPr id="25" name="Oval 24"/>
          <p:cNvSpPr/>
          <p:nvPr/>
        </p:nvSpPr>
        <p:spPr>
          <a:xfrm>
            <a:off x="6428232" y="4892040"/>
            <a:ext cx="502920" cy="502920"/>
          </a:xfrm>
          <a:prstGeom prst="ellipse">
            <a:avLst/>
          </a:prstGeom>
          <a:solidFill>
            <a:srgbClr val="EFF3F7"/>
          </a:solidFill>
          <a:ln>
            <a:solidFill>
              <a:srgbClr val="3594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Heart 25"/>
          <p:cNvSpPr/>
          <p:nvPr/>
        </p:nvSpPr>
        <p:spPr>
          <a:xfrm rot="10800000">
            <a:off x="6556248" y="5001768"/>
            <a:ext cx="246888" cy="301752"/>
          </a:xfrm>
          <a:prstGeom prst="heart">
            <a:avLst/>
          </a:prstGeom>
          <a:solidFill>
            <a:srgbClr val="FFFFFF"/>
          </a:solidFill>
          <a:ln>
            <a:solidFill>
              <a:srgbClr val="3594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74536" y="5020055"/>
            <a:ext cx="210312" cy="24688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1">
                <a:solidFill>
                  <a:srgbClr val="359468"/>
                </a:solidFill>
                <a:latin typeface="Aptos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4888" y="4855464"/>
            <a:ext cx="3931920" cy="34747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500" b="1">
                <a:solidFill>
                  <a:srgbClr val="181F2A"/>
                </a:solidFill>
                <a:latin typeface="Aptos"/>
              </a:rPr>
              <a:t>Data integrity boundary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4888" y="5193792"/>
            <a:ext cx="4114800" cy="34747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100" b="0">
                <a:solidFill>
                  <a:srgbClr val="5B697A"/>
                </a:solidFill>
                <a:latin typeface="Aptos"/>
              </a:rPr>
              <a:t>Infrastructure failures remain unscored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65392"/>
            <a:ext cx="10515600" cy="16459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800" b="0">
                <a:solidFill>
                  <a:srgbClr val="5B697A"/>
                </a:solidFill>
                <a:latin typeface="Aptos"/>
              </a:rPr>
              <a:t>Current policy-v2 validation batch · 96 scored outputs at observation time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565392"/>
            <a:ext cx="347472" cy="16459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800" b="1">
                <a:solidFill>
                  <a:srgbClr val="5B697A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2468880" cy="25603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900" b="1">
                <a:solidFill>
                  <a:srgbClr val="008991"/>
                </a:solidFill>
                <a:latin typeface="Aptos"/>
              </a:rPr>
              <a:t>OBSERVED API SPEND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2700" b="1">
                <a:solidFill>
                  <a:srgbClr val="181F2A"/>
                </a:solidFill>
                <a:latin typeface="Aptos"/>
              </a:rPr>
              <a:t>€5.19 across three recent experiment days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70432"/>
            <a:ext cx="10789920" cy="36576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200" b="0">
                <a:solidFill>
                  <a:srgbClr val="5B697A"/>
                </a:solidFill>
                <a:latin typeface="Aptos"/>
              </a:rPr>
              <a:t>Actual account spend converted using the ECB reference rate on 14 Jul 2026.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572768"/>
            <a:ext cx="11000232" cy="0"/>
          </a:xfrm>
          <a:prstGeom prst="line">
            <a:avLst/>
          </a:prstGeom>
          <a:ln w="12700">
            <a:solidFill>
              <a:srgbClr val="D3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024128" y="2889503"/>
            <a:ext cx="1097280" cy="1920240"/>
          </a:xfrm>
          <a:prstGeom prst="roundRect">
            <a:avLst>
              <a:gd name="adj" fmla="val 8000"/>
            </a:avLst>
          </a:prstGeom>
          <a:solidFill>
            <a:srgbClr val="008991"/>
          </a:solidFill>
          <a:ln w="12700"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450592"/>
            <a:ext cx="1371600" cy="38404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600" b="1">
                <a:solidFill>
                  <a:srgbClr val="181F2A"/>
                </a:solidFill>
                <a:latin typeface="Aptos"/>
              </a:rPr>
              <a:t>€1.92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5010912"/>
            <a:ext cx="1371600" cy="27432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900" b="1">
                <a:solidFill>
                  <a:srgbClr val="5B697A"/>
                </a:solidFill>
                <a:latin typeface="Aptos"/>
              </a:rPr>
              <a:t>12 JUL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45536" y="3186714"/>
            <a:ext cx="1097280" cy="1623029"/>
          </a:xfrm>
          <a:prstGeom prst="roundRect">
            <a:avLst>
              <a:gd name="adj" fmla="val 8000"/>
            </a:avLst>
          </a:prstGeom>
          <a:solidFill>
            <a:srgbClr val="3667AD"/>
          </a:solidFill>
          <a:ln w="12700">
            <a:solidFill>
              <a:srgbClr val="36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08376" y="2747802"/>
            <a:ext cx="1371600" cy="38404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600" b="1">
                <a:solidFill>
                  <a:srgbClr val="181F2A"/>
                </a:solidFill>
                <a:latin typeface="Aptos"/>
              </a:rPr>
              <a:t>€1.62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08376" y="5010912"/>
            <a:ext cx="1371600" cy="27432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900" b="1">
                <a:solidFill>
                  <a:srgbClr val="5B697A"/>
                </a:solidFill>
                <a:latin typeface="Aptos"/>
              </a:rPr>
              <a:t>13 JUL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66944" y="3171208"/>
            <a:ext cx="1097280" cy="1638535"/>
          </a:xfrm>
          <a:prstGeom prst="roundRect">
            <a:avLst>
              <a:gd name="adj" fmla="val 8000"/>
            </a:avLst>
          </a:prstGeom>
          <a:solidFill>
            <a:srgbClr val="E05D49"/>
          </a:solidFill>
          <a:ln w="12700">
            <a:solidFill>
              <a:srgbClr val="E05D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9783" y="2732296"/>
            <a:ext cx="1371600" cy="38404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600" b="1">
                <a:solidFill>
                  <a:srgbClr val="181F2A"/>
                </a:solidFill>
                <a:latin typeface="Aptos"/>
              </a:rPr>
              <a:t>€1.64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9783" y="5010912"/>
            <a:ext cx="1371600" cy="27432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900" b="1">
                <a:solidFill>
                  <a:srgbClr val="5B697A"/>
                </a:solidFill>
                <a:latin typeface="Aptos"/>
              </a:rPr>
              <a:t>14 JUL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82127" y="2039112"/>
            <a:ext cx="3291840" cy="3383280"/>
          </a:xfrm>
          <a:prstGeom prst="roundRect">
            <a:avLst>
              <a:gd name="adj" fmla="val 8000"/>
            </a:avLst>
          </a:prstGeom>
          <a:solidFill>
            <a:srgbClr val="EFF3F7"/>
          </a:solidFill>
          <a:ln w="12700">
            <a:solidFill>
              <a:srgbClr val="EFF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07424" y="2377440"/>
            <a:ext cx="658368" cy="658368"/>
          </a:xfrm>
          <a:prstGeom prst="ellipse">
            <a:avLst/>
          </a:prstGeom>
          <a:solidFill>
            <a:srgbClr val="EFF3F7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07424" y="2386584"/>
            <a:ext cx="658368" cy="64008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2400" b="1">
                <a:solidFill>
                  <a:srgbClr val="008991"/>
                </a:solidFill>
                <a:latin typeface="Aptos"/>
              </a:rPr>
              <a:t>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3236976"/>
            <a:ext cx="2514600" cy="512064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2900" b="1">
                <a:solidFill>
                  <a:srgbClr val="008991"/>
                </a:solidFill>
                <a:latin typeface="Aptos"/>
              </a:rPr>
              <a:t>€1.73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3703320"/>
            <a:ext cx="2514600" cy="29260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900" b="1">
                <a:solidFill>
                  <a:srgbClr val="5B697A"/>
                </a:solidFill>
                <a:latin typeface="Aptos"/>
              </a:rPr>
              <a:t>AVERAGE / DAY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412480" y="4224528"/>
            <a:ext cx="2231136" cy="0"/>
          </a:xfrm>
          <a:prstGeom prst="line">
            <a:avLst/>
          </a:prstGeom>
          <a:ln w="12700">
            <a:solidFill>
              <a:srgbClr val="D3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275320" y="4443984"/>
            <a:ext cx="2514600" cy="38404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1">
                <a:solidFill>
                  <a:srgbClr val="181F2A"/>
                </a:solidFill>
                <a:latin typeface="Aptos"/>
              </a:rPr>
              <a:t>≈ €51.9 / 30 days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4828032"/>
            <a:ext cx="2423160" cy="29260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900" b="0">
                <a:solidFill>
                  <a:srgbClr val="5B697A"/>
                </a:solidFill>
                <a:latin typeface="Aptos"/>
              </a:rPr>
              <a:t>linear projection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65392"/>
            <a:ext cx="10515600" cy="16459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800" b="0">
                <a:solidFill>
                  <a:srgbClr val="5B697A"/>
                </a:solidFill>
                <a:latin typeface="Aptos"/>
              </a:rPr>
              <a:t>ECB reference: 1 EUR = 7.7327 CNY (14 Jul 2026) · Source bills: ¥14.86, ¥12.56, ¥12.68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565392"/>
            <a:ext cx="347472" cy="16459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800" b="1">
                <a:solidFill>
                  <a:srgbClr val="5B697A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2468880" cy="25603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900" b="1">
                <a:solidFill>
                  <a:srgbClr val="008991"/>
                </a:solidFill>
                <a:latin typeface="Aptos"/>
              </a:rPr>
              <a:t>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2700" b="1">
                <a:solidFill>
                  <a:srgbClr val="181F2A"/>
                </a:solidFill>
                <a:latin typeface="Aptos"/>
              </a:rPr>
              <a:t>Spend is driven by trajectory depth, not iteration count alone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70432"/>
            <a:ext cx="10789920" cy="36576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200" b="0">
                <a:solidFill>
                  <a:srgbClr val="5B697A"/>
                </a:solidFill>
                <a:latin typeface="Aptos"/>
              </a:rPr>
              <a:t>Daily billing is the current calibration signal; per-iteration cost remains workload-dependent.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572768"/>
            <a:ext cx="11000232" cy="0"/>
          </a:xfrm>
          <a:prstGeom prst="line">
            <a:avLst/>
          </a:prstGeom>
          <a:ln w="12700">
            <a:solidFill>
              <a:srgbClr val="D3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58368" y="1947672"/>
            <a:ext cx="246888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1247" y="2194560"/>
            <a:ext cx="566928" cy="566928"/>
          </a:xfrm>
          <a:prstGeom prst="ellipse">
            <a:avLst/>
          </a:prstGeom>
          <a:solidFill>
            <a:srgbClr val="EFF3F7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54633" y="2307945"/>
            <a:ext cx="340156" cy="340156"/>
          </a:xfrm>
          <a:prstGeom prst="ellipse">
            <a:avLst/>
          </a:prstGeom>
          <a:solidFill>
            <a:srgbClr val="FFFFFF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1011" y="2404323"/>
            <a:ext cx="147401" cy="147401"/>
          </a:xfrm>
          <a:prstGeom prst="ellipse">
            <a:avLst/>
          </a:prstGeom>
          <a:solidFill>
            <a:srgbClr val="008991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889504"/>
            <a:ext cx="2057400" cy="310896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1">
                <a:solidFill>
                  <a:srgbClr val="181F2A"/>
                </a:solidFill>
                <a:latin typeface="Aptos"/>
              </a:rPr>
              <a:t>Validation breadth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3246120"/>
            <a:ext cx="2057400" cy="41148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000" b="0">
                <a:solidFill>
                  <a:srgbClr val="5B697A"/>
                </a:solidFill>
                <a:latin typeface="Aptos"/>
              </a:rPr>
              <a:t>Up to 98 independent issues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38144" y="1947672"/>
            <a:ext cx="246888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21024" y="2194560"/>
            <a:ext cx="566928" cy="566928"/>
          </a:xfrm>
          <a:prstGeom prst="ellipse">
            <a:avLst/>
          </a:prstGeom>
          <a:solidFill>
            <a:srgbClr val="EFF3F7"/>
          </a:solidFill>
          <a:ln>
            <a:solidFill>
              <a:srgbClr val="36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21024" y="2194560"/>
            <a:ext cx="566928" cy="56692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2800" b="1">
                <a:solidFill>
                  <a:srgbClr val="3667AD"/>
                </a:solidFill>
                <a:latin typeface="Aptos"/>
              </a:rPr>
              <a:t>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1024" y="2889504"/>
            <a:ext cx="2057400" cy="310896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1">
                <a:solidFill>
                  <a:srgbClr val="181F2A"/>
                </a:solidFill>
                <a:latin typeface="Aptos"/>
              </a:rPr>
              <a:t>Trajectory depth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1024" y="3246120"/>
            <a:ext cx="2057400" cy="41148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000" b="0">
                <a:solidFill>
                  <a:srgbClr val="5B697A"/>
                </a:solidFill>
                <a:latin typeface="Aptos"/>
              </a:rPr>
              <a:t>Plan + Code multi-step calls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947672"/>
            <a:ext cx="246888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0" y="2194560"/>
            <a:ext cx="566928" cy="566928"/>
          </a:xfrm>
          <a:prstGeom prst="ellipse">
            <a:avLst/>
          </a:prstGeom>
          <a:solidFill>
            <a:srgbClr val="EFF3F7"/>
          </a:solidFill>
          <a:ln>
            <a:solidFill>
              <a:srgbClr val="E05D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19672" y="2322576"/>
            <a:ext cx="329184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5D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56248" y="2340864"/>
            <a:ext cx="32004" cy="32004"/>
          </a:xfrm>
          <a:prstGeom prst="ellipse">
            <a:avLst/>
          </a:prstGeom>
          <a:solidFill>
            <a:srgbClr val="E05D49"/>
          </a:solidFill>
          <a:ln>
            <a:solidFill>
              <a:srgbClr val="E05D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19672" y="2432304"/>
            <a:ext cx="329184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5D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556248" y="2450592"/>
            <a:ext cx="32004" cy="32004"/>
          </a:xfrm>
          <a:prstGeom prst="ellipse">
            <a:avLst/>
          </a:prstGeom>
          <a:solidFill>
            <a:srgbClr val="E05D49"/>
          </a:solidFill>
          <a:ln>
            <a:solidFill>
              <a:srgbClr val="E05D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19672" y="2542032"/>
            <a:ext cx="329184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5D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56248" y="2560320"/>
            <a:ext cx="32004" cy="32004"/>
          </a:xfrm>
          <a:prstGeom prst="ellipse">
            <a:avLst/>
          </a:prstGeom>
          <a:solidFill>
            <a:srgbClr val="E05D49"/>
          </a:solidFill>
          <a:ln>
            <a:solidFill>
              <a:srgbClr val="E05D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2889504"/>
            <a:ext cx="2057400" cy="310896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1">
                <a:solidFill>
                  <a:srgbClr val="181F2A"/>
                </a:solidFill>
                <a:latin typeface="Aptos"/>
              </a:rPr>
              <a:t>Retries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246120"/>
            <a:ext cx="2057400" cy="41148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000" b="0">
                <a:solidFill>
                  <a:srgbClr val="5B697A"/>
                </a:solidFill>
                <a:latin typeface="Aptos"/>
              </a:rPr>
              <a:t>Timeouts and recoverable failures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97696" y="1947672"/>
            <a:ext cx="246888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180576" y="2194560"/>
            <a:ext cx="566928" cy="566928"/>
          </a:xfrm>
          <a:prstGeom prst="ellipse">
            <a:avLst/>
          </a:prstGeom>
          <a:solidFill>
            <a:srgbClr val="EFF3F7"/>
          </a:solidFill>
          <a:ln>
            <a:solidFill>
              <a:srgbClr val="E0A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9400032" y="2313432"/>
            <a:ext cx="128016" cy="0"/>
          </a:xfrm>
          <a:prstGeom prst="line">
            <a:avLst/>
          </a:prstGeom>
          <a:ln w="25400">
            <a:solidFill>
              <a:srgbClr val="E0A3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427464" y="2313432"/>
            <a:ext cx="0" cy="155447"/>
          </a:xfrm>
          <a:prstGeom prst="line">
            <a:avLst/>
          </a:prstGeom>
          <a:ln w="25400">
            <a:solidFill>
              <a:srgbClr val="E0A3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500616" y="2313432"/>
            <a:ext cx="0" cy="155447"/>
          </a:xfrm>
          <a:prstGeom prst="line">
            <a:avLst/>
          </a:prstGeom>
          <a:ln w="25400">
            <a:solidFill>
              <a:srgbClr val="E0A3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9326880" y="2468879"/>
            <a:ext cx="100584" cy="118873"/>
          </a:xfrm>
          <a:prstGeom prst="line">
            <a:avLst/>
          </a:prstGeom>
          <a:ln w="25400">
            <a:solidFill>
              <a:srgbClr val="E0A3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9500616" y="2468879"/>
            <a:ext cx="100584" cy="118873"/>
          </a:xfrm>
          <a:prstGeom prst="line">
            <a:avLst/>
          </a:prstGeom>
          <a:ln w="25400">
            <a:solidFill>
              <a:srgbClr val="E0A3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9326880" y="2587752"/>
            <a:ext cx="274320" cy="0"/>
          </a:xfrm>
          <a:prstGeom prst="line">
            <a:avLst/>
          </a:prstGeom>
          <a:ln w="25400">
            <a:solidFill>
              <a:srgbClr val="E0A3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9180576" y="2889504"/>
            <a:ext cx="2057400" cy="310896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1">
                <a:solidFill>
                  <a:srgbClr val="181F2A"/>
                </a:solidFill>
                <a:latin typeface="Aptos"/>
              </a:rPr>
              <a:t>Candidate validation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80576" y="3246120"/>
            <a:ext cx="2057400" cy="41148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000" b="0">
                <a:solidFill>
                  <a:srgbClr val="5B697A"/>
                </a:solidFill>
                <a:latin typeface="Aptos"/>
              </a:rPr>
              <a:t>Full evaluations dominate cost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4425696"/>
            <a:ext cx="10808208" cy="1143000"/>
          </a:xfrm>
          <a:prstGeom prst="roundRect">
            <a:avLst>
              <a:gd name="adj" fmla="val 8000"/>
            </a:avLst>
          </a:prstGeom>
          <a:solidFill>
            <a:srgbClr val="EFF3F7"/>
          </a:solidFill>
          <a:ln w="12700">
            <a:solidFill>
              <a:srgbClr val="EFF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2688" y="4672584"/>
            <a:ext cx="2194560" cy="50292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2200" b="1">
                <a:solidFill>
                  <a:srgbClr val="008991"/>
                </a:solidFill>
                <a:latin typeface="Aptos"/>
              </a:rPr>
              <a:t>€1.62–€1.92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18688" y="4709160"/>
            <a:ext cx="1920240" cy="41148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100" b="0">
                <a:solidFill>
                  <a:srgbClr val="5B697A"/>
                </a:solidFill>
                <a:latin typeface="Aptos"/>
              </a:rPr>
              <a:t>observed daily range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440680" y="4645152"/>
            <a:ext cx="0" cy="685800"/>
          </a:xfrm>
          <a:prstGeom prst="line">
            <a:avLst/>
          </a:prstGeom>
          <a:ln w="12700">
            <a:solidFill>
              <a:srgbClr val="D3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760720" y="4672584"/>
            <a:ext cx="2194560" cy="50292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2200" b="1">
                <a:solidFill>
                  <a:srgbClr val="E05D49"/>
                </a:solidFill>
                <a:latin typeface="Aptos"/>
              </a:rPr>
              <a:t>~60%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33488" y="4709160"/>
            <a:ext cx="3383280" cy="41148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100" b="0">
                <a:solidFill>
                  <a:srgbClr val="5B697A"/>
                </a:solidFill>
                <a:latin typeface="Aptos"/>
              </a:rPr>
              <a:t>of tokens currently spent on planning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" y="6565392"/>
            <a:ext cx="10515600" cy="16459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800" b="0">
                <a:solidFill>
                  <a:srgbClr val="5B697A"/>
                </a:solidFill>
                <a:latin typeface="Aptos"/>
              </a:rPr>
              <a:t>Vibe Coding Planning · Research progress · 15 Jul 2026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47120" y="6565392"/>
            <a:ext cx="347472" cy="16459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800" b="1">
                <a:solidFill>
                  <a:srgbClr val="5B697A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2468880" cy="25603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900" b="1">
                <a:solidFill>
                  <a:srgbClr val="008991"/>
                </a:solidFill>
                <a:latin typeface="Aptos"/>
              </a:rPr>
              <a:t>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2700" b="1">
                <a:solidFill>
                  <a:srgbClr val="181F2A"/>
                </a:solidFill>
                <a:latin typeface="Aptos"/>
              </a:rPr>
              <a:t>Online GEPA is now the primary research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70432"/>
            <a:ext cx="10789920" cy="36576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200" b="0">
                <a:solidFill>
                  <a:srgbClr val="5B697A"/>
                </a:solidFill>
                <a:latin typeface="Aptos"/>
              </a:rPr>
              <a:t>The next evidence milestone is stable rule improvement across completed iterations.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572768"/>
            <a:ext cx="11000232" cy="0"/>
          </a:xfrm>
          <a:prstGeom prst="line">
            <a:avLst/>
          </a:prstGeom>
          <a:ln w="12700">
            <a:solidFill>
              <a:srgbClr val="D3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749808" y="1856231"/>
            <a:ext cx="512064" cy="512064"/>
          </a:xfrm>
          <a:prstGeom prst="ellipse">
            <a:avLst/>
          </a:prstGeom>
          <a:solidFill>
            <a:srgbClr val="EFF3F7"/>
          </a:solidFill>
          <a:ln>
            <a:solidFill>
              <a:srgbClr val="36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941832" y="1975103"/>
            <a:ext cx="128016" cy="0"/>
          </a:xfrm>
          <a:prstGeom prst="line">
            <a:avLst/>
          </a:prstGeom>
          <a:ln w="25400">
            <a:solidFill>
              <a:srgbClr val="3667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69264" y="1975103"/>
            <a:ext cx="0" cy="155448"/>
          </a:xfrm>
          <a:prstGeom prst="line">
            <a:avLst/>
          </a:prstGeom>
          <a:ln w="25400">
            <a:solidFill>
              <a:srgbClr val="3667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42416" y="1975103"/>
            <a:ext cx="0" cy="155448"/>
          </a:xfrm>
          <a:prstGeom prst="line">
            <a:avLst/>
          </a:prstGeom>
          <a:ln w="25400">
            <a:solidFill>
              <a:srgbClr val="3667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868680" y="2130551"/>
            <a:ext cx="100584" cy="118873"/>
          </a:xfrm>
          <a:prstGeom prst="line">
            <a:avLst/>
          </a:prstGeom>
          <a:ln w="25400">
            <a:solidFill>
              <a:srgbClr val="3667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42416" y="2130551"/>
            <a:ext cx="100584" cy="118873"/>
          </a:xfrm>
          <a:prstGeom prst="line">
            <a:avLst/>
          </a:prstGeom>
          <a:ln w="25400">
            <a:solidFill>
              <a:srgbClr val="3667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68680" y="2249424"/>
            <a:ext cx="274320" cy="0"/>
          </a:xfrm>
          <a:prstGeom prst="line">
            <a:avLst/>
          </a:prstGeom>
          <a:ln w="25400">
            <a:solidFill>
              <a:srgbClr val="3667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481328" y="1837943"/>
            <a:ext cx="2331720" cy="310896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500" b="1">
                <a:solidFill>
                  <a:srgbClr val="181F2A"/>
                </a:solidFill>
                <a:latin typeface="Aptos"/>
              </a:rPr>
              <a:t>Offline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3904" y="1837943"/>
            <a:ext cx="7086600" cy="43891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100" b="0">
                <a:solidFill>
                  <a:srgbClr val="5B697A"/>
                </a:solidFill>
                <a:latin typeface="Aptos"/>
              </a:rPr>
              <a:t>Two substantial trials established a baseline and improved rule compactness.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481328" y="2551176"/>
            <a:ext cx="9720072" cy="0"/>
          </a:xfrm>
          <a:prstGeom prst="line">
            <a:avLst/>
          </a:prstGeom>
          <a:ln w="12700">
            <a:solidFill>
              <a:srgbClr val="D3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749808" y="2843784"/>
            <a:ext cx="512064" cy="512064"/>
          </a:xfrm>
          <a:prstGeom prst="ellipse">
            <a:avLst/>
          </a:prstGeom>
          <a:solidFill>
            <a:srgbClr val="EFF3F7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2843784"/>
            <a:ext cx="512064" cy="512064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2800" b="1">
                <a:solidFill>
                  <a:srgbClr val="008991"/>
                </a:solidFill>
                <a:latin typeface="Aptos"/>
              </a:rPr>
              <a:t>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825496"/>
            <a:ext cx="2331720" cy="310896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500" b="1">
                <a:solidFill>
                  <a:srgbClr val="181F2A"/>
                </a:solidFill>
                <a:latin typeface="Aptos"/>
              </a:rPr>
              <a:t>Causal online loop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03904" y="2825496"/>
            <a:ext cx="7086600" cy="43891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100" b="0">
                <a:solidFill>
                  <a:srgbClr val="5B697A"/>
                </a:solidFill>
                <a:latin typeface="Aptos"/>
              </a:rPr>
              <a:t>Rules are judged through planning, coding, and official evaluation.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481328" y="3538728"/>
            <a:ext cx="9720072" cy="0"/>
          </a:xfrm>
          <a:prstGeom prst="line">
            <a:avLst/>
          </a:prstGeom>
          <a:ln w="12700">
            <a:solidFill>
              <a:srgbClr val="D3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49808" y="3831335"/>
            <a:ext cx="512064" cy="512064"/>
          </a:xfrm>
          <a:prstGeom prst="ellipse">
            <a:avLst/>
          </a:prstGeom>
          <a:solidFill>
            <a:srgbClr val="EFF3F7"/>
          </a:solidFill>
          <a:ln>
            <a:solidFill>
              <a:srgbClr val="3594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Heart 21"/>
          <p:cNvSpPr/>
          <p:nvPr/>
        </p:nvSpPr>
        <p:spPr>
          <a:xfrm rot="10800000">
            <a:off x="877824" y="3941063"/>
            <a:ext cx="256032" cy="310896"/>
          </a:xfrm>
          <a:prstGeom prst="heart">
            <a:avLst/>
          </a:prstGeom>
          <a:solidFill>
            <a:srgbClr val="FFFFFF"/>
          </a:solidFill>
          <a:ln>
            <a:solidFill>
              <a:srgbClr val="3594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3959351"/>
            <a:ext cx="219456" cy="25603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1">
                <a:solidFill>
                  <a:srgbClr val="359468"/>
                </a:solidFill>
                <a:latin typeface="Aptos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1328" y="3813048"/>
            <a:ext cx="2331720" cy="310896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500" b="1">
                <a:solidFill>
                  <a:srgbClr val="181F2A"/>
                </a:solidFill>
                <a:latin typeface="Aptos"/>
              </a:rPr>
              <a:t>Recoverable execution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03904" y="3813048"/>
            <a:ext cx="7086600" cy="43891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100" b="0">
                <a:solidFill>
                  <a:srgbClr val="5B697A"/>
                </a:solidFill>
                <a:latin typeface="Aptos"/>
              </a:rPr>
              <a:t>Parallel outputs survive controller boundaries; invalid infrastructure states stay unscored.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481328" y="4526279"/>
            <a:ext cx="9720072" cy="0"/>
          </a:xfrm>
          <a:prstGeom prst="line">
            <a:avLst/>
          </a:prstGeom>
          <a:ln w="12700">
            <a:solidFill>
              <a:srgbClr val="D3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749808" y="4818888"/>
            <a:ext cx="512064" cy="512064"/>
          </a:xfrm>
          <a:prstGeom prst="ellipse">
            <a:avLst/>
          </a:prstGeom>
          <a:solidFill>
            <a:srgbClr val="EFF3F7"/>
          </a:solidFill>
          <a:ln>
            <a:solidFill>
              <a:srgbClr val="E05D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4828031"/>
            <a:ext cx="512064" cy="493776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2400" b="1">
                <a:solidFill>
                  <a:srgbClr val="E05D49"/>
                </a:solidFill>
                <a:latin typeface="Aptos"/>
              </a:rPr>
              <a:t>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81328" y="4800600"/>
            <a:ext cx="2331720" cy="310896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500" b="1">
                <a:solidFill>
                  <a:srgbClr val="181F2A"/>
                </a:solidFill>
                <a:latin typeface="Aptos"/>
              </a:rPr>
              <a:t>Measured cost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03904" y="4800600"/>
            <a:ext cx="7086600" cy="43891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100" b="0">
                <a:solidFill>
                  <a:srgbClr val="5B697A"/>
                </a:solidFill>
                <a:latin typeface="Aptos"/>
              </a:rPr>
              <a:t>Recent account spend averages €1.73 per experiment day.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9808" y="5888736"/>
            <a:ext cx="10451592" cy="411480"/>
          </a:xfrm>
          <a:prstGeom prst="roundRect">
            <a:avLst>
              <a:gd name="adj" fmla="val 8000"/>
            </a:avLst>
          </a:prstGeom>
          <a:solidFill>
            <a:srgbClr val="008991"/>
          </a:solidFill>
          <a:ln w="12700"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5925312"/>
            <a:ext cx="10085832" cy="310896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NEXT: complete ≥6–8 reliable online iterations and compare candidate rules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565392"/>
            <a:ext cx="10515600" cy="16459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800" b="0">
                <a:solidFill>
                  <a:srgbClr val="5B697A"/>
                </a:solidFill>
                <a:latin typeface="Aptos"/>
              </a:rPr>
              <a:t>Vibe Coding Planning · Research progress · 15 Jul 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47120" y="6565392"/>
            <a:ext cx="347472" cy="16459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800" b="1">
                <a:solidFill>
                  <a:srgbClr val="5B697A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